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SH G" userId="af4ec6dac6ef9016" providerId="LiveId" clId="{D2F5FD18-5443-493F-8A2E-D4FE16962331}"/>
    <pc:docChg chg="undo custSel modSld">
      <pc:chgData name="AKASH G" userId="af4ec6dac6ef9016" providerId="LiveId" clId="{D2F5FD18-5443-493F-8A2E-D4FE16962331}" dt="2026-09-17T14:40:30.257" v="26" actId="1076"/>
      <pc:docMkLst>
        <pc:docMk/>
      </pc:docMkLst>
      <pc:sldChg chg="addSp delSp modSp mod">
        <pc:chgData name="AKASH G" userId="af4ec6dac6ef9016" providerId="LiveId" clId="{D2F5FD18-5443-493F-8A2E-D4FE16962331}" dt="2026-09-17T14:40:30.257" v="26" actId="1076"/>
        <pc:sldMkLst>
          <pc:docMk/>
          <pc:sldMk cId="0" sldId="260"/>
        </pc:sldMkLst>
        <pc:picChg chg="add del mod">
          <ac:chgData name="AKASH G" userId="af4ec6dac6ef9016" providerId="LiveId" clId="{D2F5FD18-5443-493F-8A2E-D4FE16962331}" dt="2026-09-17T14:39:08.438" v="10" actId="478"/>
          <ac:picMkLst>
            <pc:docMk/>
            <pc:sldMk cId="0" sldId="260"/>
            <ac:picMk id="3" creationId="{267C0D67-F584-8510-295C-80A5286EBBC8}"/>
          </ac:picMkLst>
        </pc:picChg>
        <pc:picChg chg="add mod">
          <ac:chgData name="AKASH G" userId="af4ec6dac6ef9016" providerId="LiveId" clId="{D2F5FD18-5443-493F-8A2E-D4FE16962331}" dt="2026-09-17T14:40:30.257" v="26" actId="1076"/>
          <ac:picMkLst>
            <pc:docMk/>
            <pc:sldMk cId="0" sldId="260"/>
            <ac:picMk id="5" creationId="{540796B1-3DDE-41B1-D0C0-3374B2F2CFF4}"/>
          </ac:picMkLst>
        </pc:picChg>
        <pc:picChg chg="del">
          <ac:chgData name="AKASH G" userId="af4ec6dac6ef9016" providerId="LiveId" clId="{D2F5FD18-5443-493F-8A2E-D4FE16962331}" dt="2026-09-17T14:37:54.297" v="0" actId="478"/>
          <ac:picMkLst>
            <pc:docMk/>
            <pc:sldMk cId="0" sldId="260"/>
            <ac:picMk id="57" creationId="{00000000-0000-0000-0000-000000000000}"/>
          </ac:picMkLst>
        </pc:picChg>
        <pc:picChg chg="mod">
          <ac:chgData name="AKASH G" userId="af4ec6dac6ef9016" providerId="LiveId" clId="{D2F5FD18-5443-493F-8A2E-D4FE16962331}" dt="2026-09-17T14:39:21.699" v="17" actId="1076"/>
          <ac:picMkLst>
            <pc:docMk/>
            <pc:sldMk cId="0" sldId="260"/>
            <ac:picMk id="5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CFBD421-4104-4A07-836B-1D6C7007FA4A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CF14CE1-5CBF-4D48-A646-265813C311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3B675B3-464A-4FDE-BBAE-7ACBDEBC59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15A01A0-F990-4BA8-98F9-0DA8907976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D155F9E-621A-4FD3-8CBE-B5608373B7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B65CB3D-8F4F-4972-B5AF-71D4FA7F49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2096E3F-FEE7-4FC1-B3E9-55AA3B872D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1F5D85-98D7-41F6-BB72-5A50E02F07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1554480"/>
            <a:ext cx="1109376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119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ANTENNA DESIGN CONTEST SUBMISSION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48640" y="1874520"/>
            <a:ext cx="1109376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Dual-Band 4-Port MIMO Antenna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2880360"/>
            <a:ext cx="877752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A high-isolation mimo antenna  915 MHz Sub-GHz IoT/LoRa connectivity with 2.4 GHz WLAN/ISM links on a single compact platform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548640" y="3977640"/>
            <a:ext cx="11094120" cy="360"/>
          </a:xfrm>
          <a:prstGeom prst="line">
            <a:avLst/>
          </a:prstGeom>
          <a:ln w="9525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48640" y="4160520"/>
            <a:ext cx="110937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Akash G   ·   T Aakash   ·   Rakshith Kumar   ·   Dr. Usha Kiran Kommuri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48640" y="4480560"/>
            <a:ext cx="1109376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Department of Electronics and Communication Engineering  ·  VIT Chennai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548640" y="365760"/>
            <a:ext cx="1109376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INTRODUCTION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48640" y="621720"/>
            <a:ext cx="110937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Introduction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548640" y="1078920"/>
            <a:ext cx="1109376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Why a dual-band, high-isolation array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548640" y="1426320"/>
            <a:ext cx="11094120" cy="360"/>
          </a:xfrm>
          <a:prstGeom prst="line">
            <a:avLst/>
          </a:prstGeom>
          <a:ln w="9525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548640" y="1737360"/>
            <a:ext cx="6308640" cy="42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1599"/>
              </a:spcAft>
              <a:buClr>
                <a:srgbClr val="1A1A1A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Multi-service wireless platforms increasingly need one hardware design that spans long-range Sub-GHz IoT/LoRa and short-range 2.4 GHz WLAN/ISM connectivity.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599"/>
              </a:spcAft>
              <a:buClr>
                <a:srgbClr val="1A1A1A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Packing multiple antennas into a compact MIMO layout introduces strong mutual coupling, which degrades isolation, distorts radiation patterns, and limits diversity performance.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599"/>
              </a:spcAft>
              <a:buClr>
                <a:srgbClr val="1A1A1A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This design uses an inverted-L parasitic stub for dual-band resonance and a central circular-ring defected ground structure (DGS) to suppress coupling across a 4-port array.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 0" descr="/home/claude/assets/radiator.png"/>
          <p:cNvPicPr/>
          <p:nvPr/>
        </p:nvPicPr>
        <p:blipFill>
          <a:blip r:embed="rId3"/>
          <a:stretch/>
        </p:blipFill>
        <p:spPr>
          <a:xfrm>
            <a:off x="7223760" y="1783080"/>
            <a:ext cx="4388400" cy="41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5"/>
          <p:cNvSpPr/>
          <p:nvPr/>
        </p:nvSpPr>
        <p:spPr>
          <a:xfrm>
            <a:off x="7223760" y="5897880"/>
            <a:ext cx="43884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Fig. 1 — Single radiator with feed line and inverted-L impedance-matching stub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10271520" y="647388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02 / 07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548640" y="365760"/>
            <a:ext cx="1109376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ANTENNA DESIGN &amp; DESIGN SPECIFICATIONS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548640" y="621720"/>
            <a:ext cx="110937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Antenna Design &amp; Design Specifications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548640" y="1078920"/>
            <a:ext cx="1109376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Geometry of the 4-port array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548640" y="1426320"/>
            <a:ext cx="11094120" cy="360"/>
          </a:xfrm>
          <a:prstGeom prst="line">
            <a:avLst/>
          </a:prstGeom>
          <a:ln w="9525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0" descr="/home/claude/assets/front_array.png"/>
          <p:cNvPicPr/>
          <p:nvPr/>
        </p:nvPicPr>
        <p:blipFill>
          <a:blip r:embed="rId3"/>
          <a:stretch/>
        </p:blipFill>
        <p:spPr>
          <a:xfrm>
            <a:off x="548640" y="1691640"/>
            <a:ext cx="3245400" cy="287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4"/>
          <p:cNvSpPr/>
          <p:nvPr/>
        </p:nvSpPr>
        <p:spPr>
          <a:xfrm>
            <a:off x="548640" y="4572000"/>
            <a:ext cx="324540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Front side — 4-port orthogonal array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Image 1" descr="/home/claude/assets/ground_dgs.png"/>
          <p:cNvPicPr/>
          <p:nvPr/>
        </p:nvPicPr>
        <p:blipFill>
          <a:blip r:embed="rId4"/>
          <a:stretch/>
        </p:blipFill>
        <p:spPr>
          <a:xfrm>
            <a:off x="3977640" y="1691640"/>
            <a:ext cx="3245400" cy="287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5"/>
          <p:cNvSpPr/>
          <p:nvPr/>
        </p:nvSpPr>
        <p:spPr>
          <a:xfrm>
            <a:off x="3977640" y="4572000"/>
            <a:ext cx="324540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(Back side) Ground plane — central DGS network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548640" y="5029200"/>
            <a:ext cx="685728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A1A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Four identical patch elements, each with an inverted-L feed stub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1A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Circular ring coupled to 4 diagonal DGS branches for isolation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7589520" y="169164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Key geometric parameters (Table I)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" name="Table 0"/>
          <p:cNvGraphicFramePr/>
          <p:nvPr/>
        </p:nvGraphicFramePr>
        <p:xfrm>
          <a:off x="7589520" y="2057400"/>
          <a:ext cx="4023360" cy="1918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44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Substrate (W × L)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25200" marB="2520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120 × 120 mm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25200" marB="2520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44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Substrate, εr(dielectric constant) (FR4)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25200" marB="2520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 = 1.6 mm, 4.4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25200" marB="2520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44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Patch (WP × LP)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25200" marB="2520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28.0 × 26.5 mm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25200" marB="2520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44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Feed line WF / Stub Lstub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25200" marB="2520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3.0 / 34.5 mm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25200" marB="2520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44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Ring Rout / Rin /  DGS Wdgs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25200" marB="2520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12.0 / 8.0 / 2.0 mm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25200" marB="25200" anchor="ctr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 9"/>
          <p:cNvSpPr/>
          <p:nvPr/>
        </p:nvSpPr>
        <p:spPr>
          <a:xfrm>
            <a:off x="10271520" y="647388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03 / 07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48640" y="365760"/>
            <a:ext cx="1109376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RESULTS &amp; TABULATION · I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548640" y="621720"/>
            <a:ext cx="110937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Results &amp; Tabulation · I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548640" y="1078920"/>
            <a:ext cx="1109376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Impedance matching &amp; port isolation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548640" y="1426320"/>
            <a:ext cx="11094120" cy="360"/>
          </a:xfrm>
          <a:prstGeom prst="line">
            <a:avLst/>
          </a:prstGeom>
          <a:ln w="9525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0" descr="/home/claude/assets/return_loss.png"/>
          <p:cNvPicPr/>
          <p:nvPr/>
        </p:nvPicPr>
        <p:blipFill>
          <a:blip r:embed="rId3"/>
          <a:stretch/>
        </p:blipFill>
        <p:spPr>
          <a:xfrm>
            <a:off x="548640" y="1691640"/>
            <a:ext cx="4159800" cy="324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4"/>
          <p:cNvSpPr/>
          <p:nvPr/>
        </p:nvSpPr>
        <p:spPr>
          <a:xfrm>
            <a:off x="548640" y="4956120"/>
            <a:ext cx="41598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Fig. 4 — Reflection coefficients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1" descr="/home/claude/assets/isolation.png"/>
          <p:cNvPicPr/>
          <p:nvPr/>
        </p:nvPicPr>
        <p:blipFill>
          <a:blip r:embed="rId4"/>
          <a:stretch/>
        </p:blipFill>
        <p:spPr>
          <a:xfrm>
            <a:off x="4892040" y="1691640"/>
            <a:ext cx="4159800" cy="324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5"/>
          <p:cNvSpPr/>
          <p:nvPr/>
        </p:nvSpPr>
        <p:spPr>
          <a:xfrm>
            <a:off x="4892040" y="4956120"/>
            <a:ext cx="41598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Fig. 5 — Inter-port isolation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9372600" y="169164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0.915 GHz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9372600" y="2011680"/>
            <a:ext cx="237672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444444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Return loss: -28.2 dB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444444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Isolation: -29.5 dB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Bandwidth: 35 MHz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8"/>
          <p:cNvSpPr/>
          <p:nvPr/>
        </p:nvSpPr>
        <p:spPr>
          <a:xfrm>
            <a:off x="9372600" y="32461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2.400 GHz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9372600" y="3566160"/>
            <a:ext cx="237672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444444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Return loss: -23.4 dB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444444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Isolation: -25.8 dB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Bandwidth: 180 MHz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0"/>
          <p:cNvSpPr/>
          <p:nvPr/>
        </p:nvSpPr>
        <p:spPr>
          <a:xfrm>
            <a:off x="548640" y="5349240"/>
            <a:ext cx="11094120" cy="360"/>
          </a:xfrm>
          <a:prstGeom prst="line">
            <a:avLst/>
          </a:prstGeom>
          <a:ln w="9525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1"/>
          <p:cNvSpPr/>
          <p:nvPr/>
        </p:nvSpPr>
        <p:spPr>
          <a:xfrm>
            <a:off x="548640" y="5486400"/>
            <a:ext cx="110937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Simulated S-parameter summary at target frequencies (Table II) — isolation remains below -25 dB across both bands, with notches reaching -90 dB near 0.75 GHz and 2.05 GHz.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10271520" y="647388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04 / 07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48640" y="365760"/>
            <a:ext cx="1109376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RESULTS &amp; TABULATION · II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548640" y="621720"/>
            <a:ext cx="110937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Results &amp; Tabulation · II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548640" y="1078920"/>
            <a:ext cx="1109376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Radiation pattern &amp; realized gain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548640" y="1426320"/>
            <a:ext cx="11094120" cy="360"/>
          </a:xfrm>
          <a:prstGeom prst="line">
            <a:avLst/>
          </a:prstGeom>
          <a:ln w="9525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548640" y="1691640"/>
            <a:ext cx="5394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0.915 GHz — Sub-GHz band (Fig. 6, 7)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6492240" y="1691640"/>
            <a:ext cx="5394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2.4 GHz — WLAN band (Fig. 8, 9)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1" descr="/home/claude/assets/gain2d_915.png"/>
          <p:cNvPicPr/>
          <p:nvPr/>
        </p:nvPicPr>
        <p:blipFill>
          <a:blip r:embed="rId3"/>
          <a:stretch/>
        </p:blipFill>
        <p:spPr>
          <a:xfrm>
            <a:off x="2880360" y="2103120"/>
            <a:ext cx="2559600" cy="251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Image 2" descr="/home/claude/assets/gain3d_24.png"/>
          <p:cNvPicPr/>
          <p:nvPr/>
        </p:nvPicPr>
        <p:blipFill>
          <a:blip r:embed="rId4"/>
          <a:stretch/>
        </p:blipFill>
        <p:spPr>
          <a:xfrm>
            <a:off x="6492240" y="2103120"/>
            <a:ext cx="2696760" cy="251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Image 3" descr="/home/claude/assets/gain2d_24.png"/>
          <p:cNvPicPr/>
          <p:nvPr/>
        </p:nvPicPr>
        <p:blipFill>
          <a:blip r:embed="rId5"/>
          <a:stretch/>
        </p:blipFill>
        <p:spPr>
          <a:xfrm>
            <a:off x="9418320" y="2103120"/>
            <a:ext cx="2559600" cy="251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Shape 6"/>
          <p:cNvSpPr/>
          <p:nvPr/>
        </p:nvSpPr>
        <p:spPr>
          <a:xfrm>
            <a:off x="548640" y="4846320"/>
            <a:ext cx="11094120" cy="360"/>
          </a:xfrm>
          <a:prstGeom prst="line">
            <a:avLst/>
          </a:prstGeom>
          <a:ln w="9525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7"/>
          <p:cNvSpPr/>
          <p:nvPr/>
        </p:nvSpPr>
        <p:spPr>
          <a:xfrm>
            <a:off x="548640" y="5029200"/>
            <a:ext cx="53942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Peak gain ≈ -14.6 dBi · broad, hemispherical broadside coverage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6492240" y="5029200"/>
            <a:ext cx="53942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444444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Peak gain ≈ 3.23 dBi · stable directive lobes, no pattern degradation between elements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10271520" y="647388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05 / 07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0796B1-3DDE-41B1-D0C0-3374B2F2CF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188" y="2103840"/>
            <a:ext cx="2843784" cy="239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548640" y="365760"/>
            <a:ext cx="1109376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APPLICATIONS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548640" y="621720"/>
            <a:ext cx="110937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Applications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548640" y="1078920"/>
            <a:ext cx="1109376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Where this design fits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548640" y="1426320"/>
            <a:ext cx="11094120" cy="360"/>
          </a:xfrm>
          <a:prstGeom prst="line">
            <a:avLst/>
          </a:prstGeom>
          <a:ln w="9525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548640" y="1691640"/>
            <a:ext cx="1109376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Dual-band coverage plus 4-port isolation make this array a natural fit for compact, multi-service MIMO platforms.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5"/>
          <p:cNvSpPr/>
          <p:nvPr/>
        </p:nvSpPr>
        <p:spPr>
          <a:xfrm>
            <a:off x="548640" y="2377440"/>
            <a:ext cx="11093760" cy="383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1800"/>
              </a:spcAft>
              <a:buClr>
                <a:srgbClr val="1A1A1A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V2X Communication Modules — Sub-GHz link paired with 2.4 GHz WLAN for vehicle-to-everything connectivity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800"/>
              </a:spcAft>
              <a:buClr>
                <a:srgbClr val="1A1A1A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IoT Gateways &amp; LoRa Nodes — Long-range Sub-GHz telemetry alongside local Wi-Fi/Bluetooth backhaul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800"/>
              </a:spcAft>
              <a:buClr>
                <a:srgbClr val="1A1A1A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Smart Metering &amp; Telemetry — Low-power long-range sensing combined with high-throughput local control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800"/>
              </a:spcAft>
              <a:buClr>
                <a:srgbClr val="1A1A1A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MIMO Access Points / CPE — Four isolated ports enable spatial diversity in multi-band wireless terminals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800"/>
              </a:spcAft>
              <a:buClr>
                <a:srgbClr val="1A1A1A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Automotive Telematics / RSU — DGS decoupling drawn from V2X MIMO literature suits compact automotive units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548640" y="647388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10271520" y="647388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06 / 07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540000" y="621360"/>
            <a:ext cx="1109376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540000" y="877320"/>
            <a:ext cx="110937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Conclusion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540000" y="1626840"/>
            <a:ext cx="1109376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A compact, high-isolation platform for multi-band connectivity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540000" y="1974240"/>
            <a:ext cx="11094120" cy="360"/>
          </a:xfrm>
          <a:prstGeom prst="line">
            <a:avLst/>
          </a:prstGeom>
          <a:ln w="9525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548640" y="2340000"/>
            <a:ext cx="11093760" cy="21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A dual-band 4-port MIMO antenna array operating at 915 MHz and 2.4 GHz has been designed and simulated. Inverted-L feed stubs enable dual-frequency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 resonance, while a central circular-ring DGS network with four diagonal branches suppresses mutual coupling across the array.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	GAIN:-					ISOLATION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0.915 GHZ     	2.4GHZ 			0.915 GHZ     	2.4GHZ </a:t>
            </a:r>
            <a:br>
              <a:rPr sz="1350"/>
            </a:br>
            <a:r>
              <a:rPr lang="en-US" sz="125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Peak gain ≈ -14.6 dBi   	Peak gain ≈ 3.23 dBi             	  </a:t>
            </a:r>
            <a:r>
              <a:rPr lang="en-US" sz="115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	solation: -29.5 dB</a:t>
            </a:r>
            <a:r>
              <a:rPr lang="en-US" sz="125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 	</a:t>
            </a:r>
            <a:r>
              <a:rPr lang="en-US" sz="115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Isolation: -25.8 dB</a:t>
            </a:r>
            <a:br>
              <a:rPr sz="1350"/>
            </a:b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8869320" y="2971800"/>
            <a:ext cx="24984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3"/>
          <p:cNvSpPr/>
          <p:nvPr/>
        </p:nvSpPr>
        <p:spPr>
          <a:xfrm>
            <a:off x="548640" y="4739760"/>
            <a:ext cx="11094120" cy="360"/>
          </a:xfrm>
          <a:prstGeom prst="line">
            <a:avLst/>
          </a:prstGeom>
          <a:ln w="9525">
            <a:solidFill>
              <a:srgbClr val="D9D9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4"/>
          <p:cNvSpPr/>
          <p:nvPr/>
        </p:nvSpPr>
        <p:spPr>
          <a:xfrm>
            <a:off x="548640" y="4960080"/>
            <a:ext cx="1109376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Stable radiation profiles across both bands make the design well suited to multi-band wireless terminals and V2X / IoT platforms.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548640" y="647388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6"/>
          <p:cNvSpPr/>
          <p:nvPr/>
        </p:nvSpPr>
        <p:spPr>
          <a:xfrm>
            <a:off x="10271520" y="647388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E6E6E"/>
                </a:solidFill>
                <a:effectLst/>
                <a:uFillTx/>
                <a:latin typeface="Calibri"/>
                <a:ea typeface="Calibri"/>
              </a:rPr>
              <a:t>07 / 07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677</Words>
  <Application>Microsoft Office PowerPoint</Application>
  <PresentationFormat>Widescreen</PresentationFormat>
  <Paragraphs>83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AKASH G</cp:lastModifiedBy>
  <cp:revision>3</cp:revision>
  <dcterms:created xsi:type="dcterms:W3CDTF">2026-09-17T13:37:02Z</dcterms:created>
  <dcterms:modified xsi:type="dcterms:W3CDTF">2026-09-17T14:40:37Z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